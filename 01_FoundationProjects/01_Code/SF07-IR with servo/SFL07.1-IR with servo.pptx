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0" r:id="rId4"/>
    <p:sldId id="261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635CE-4E19-484D-A003-AFDCB4EE857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93F60-25C3-432C-9859-A1C96B971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706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8827-72B0-4AA9-1EBA-68D64DEE3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C1C31-48A1-C458-DD98-85BA0FB6D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8C867-9606-90EA-E1BB-A62AC092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0A366-23E8-4567-832A-4407B06BF6A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32677-B6A2-BED4-0693-82096F320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0B0EC-BD35-F7B6-3CCF-A57A6194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119DF-DA9A-4DD0-9119-74B7E2620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07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7D248-F5A0-0933-2547-86682903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8282C-2D86-D3FF-BF16-222F7BDA4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DF9BA-040F-6E43-46ED-86CC1C9AE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0A366-23E8-4567-832A-4407B06BF6A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401EE-9B59-F5F6-6F3D-D4C97F7D3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5FB0C-4387-573F-25F3-778784E1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119DF-DA9A-4DD0-9119-74B7E2620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062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DB340-62D6-9D48-04A1-4DC61524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6ED61-6C34-32E1-1F61-2623CAA53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72763-CAF0-8154-C62F-2FBC12621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0A366-23E8-4567-832A-4407B06BF6A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63CCF-D877-D8FD-3C49-C99E3DFC7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EFD0C-09CE-5942-0BC5-ABE7118CF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119DF-DA9A-4DD0-9119-74B7E2620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764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1A23E-4723-1FF7-54DE-3ACCFA08B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B20AF-FBF0-EBF8-4FAA-08731CCDD4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05CF0-7A47-E995-A0C0-8806A1FA6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F4E4A-5874-572A-F82A-E03F77810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0A366-23E8-4567-832A-4407B06BF6A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7DA41-0EA8-28CA-E3C0-DFE57DE2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70F0F-77AD-7B69-67CF-2A3ACE036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119DF-DA9A-4DD0-9119-74B7E2620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85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E27E2-9872-DA0E-11D1-AF6E479CF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C780F-5DF4-206E-D081-5B9C8B8BD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508B5-DCD3-16FA-20EC-9378D1145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80960D-FB61-CC4D-74F2-5C4485DE6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5CB9B9-A786-61E7-D1BE-CE49C64ED1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D71B26-25A5-74FB-8F55-1799E76D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0A366-23E8-4567-832A-4407B06BF6A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28B581-9C3F-BCE6-2B92-BF531DB5A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199788-DB90-9696-1C70-A9475703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119DF-DA9A-4DD0-9119-74B7E2620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072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ED312-CAD2-441E-6026-B5BF678A2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309AA-48AC-F834-67B9-C6F10909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0A366-23E8-4567-832A-4407B06BF6A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4A8B1-527A-32E0-E1D0-AF18F42D3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2288B-6939-0B3C-6109-CBAFF4A1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119DF-DA9A-4DD0-9119-74B7E2620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89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2A420-32DB-8B86-9A10-D90AECB3C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0A366-23E8-4567-832A-4407B06BF6A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B4E68-FC5B-FF25-E0A2-4EDF838CE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B531D-44AB-ACB9-8AD6-8E5951013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119DF-DA9A-4DD0-9119-74B7E2620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92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0882-F60B-2220-3BBA-B868A70B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708E7-BC03-450D-539F-2F7C5A7AE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CFF5D-A96E-BD4D-0644-9AC6CD987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0C5A1-AA57-7E8A-9464-DB0BA949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0A366-23E8-4567-832A-4407B06BF6A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EF684-C382-565D-F821-19612811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50B42-24FD-2D0F-FB8F-680929D9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119DF-DA9A-4DD0-9119-74B7E2620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508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E8F3-45E6-1DE8-9EE1-9EDF1BE2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426FBA-21C0-A47F-16A8-CE331930B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FC63E-889A-08E6-72B7-FA41D22BE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CA499-D11D-DC03-6247-9C804789D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0A366-23E8-4567-832A-4407B06BF6A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F30E2-AF2B-F33E-646A-5C6F5645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83A9C-5E20-0E31-38EA-B148AB50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119DF-DA9A-4DD0-9119-74B7E2620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61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5CDB5-1F9E-7207-EB9A-BA50B141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71D44-48CD-B21B-85B9-9EC20EA27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900A3-9A31-A90C-A6FB-16433A94D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0A366-23E8-4567-832A-4407B06BF6A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71262-7425-85AE-39B2-95D92014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4FE39-8CFC-DBCB-9F71-DD7CF655E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119DF-DA9A-4DD0-9119-74B7E2620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983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AE9400-971C-29FC-97DA-DD1763B4A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2F844-AB67-7B45-39CB-7D89BC4B5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523F0-D01B-4447-0203-8B3D9BE7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0A366-23E8-4567-832A-4407B06BF6A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7DEBC-B11E-24AB-48CB-AAF6738D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0CBEF-431C-2B96-0414-1E96FACC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119DF-DA9A-4DD0-9119-74B7E2620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64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700498-2C3F-17FE-CD56-2A0743D96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4B311-11EA-DBC0-D7D5-EBA464CE4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66D09-99CC-835D-6F14-1CE4A90E5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0A366-23E8-4567-832A-4407B06BF6A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312DE-088A-ED88-B13A-386DFD23F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AB979-D6F2-B1FC-236F-72476456F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119DF-DA9A-4DD0-9119-74B7E26206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723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FD9F-C663-E920-10CD-998FCD07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SFL07: IR SENSOR WITH SERVO MOTOR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BDA-E1FA-6E4B-A34E-D2CE12E5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A02E7-2E48-2AAB-4DA7-AEAA051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C6205-5BE0-6E70-2E8A-FF9C9D90C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62" y="1885359"/>
            <a:ext cx="1494750" cy="1793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ACE5-7676-1262-0B8F-0678387AC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2387053" y="4577598"/>
            <a:ext cx="2957794" cy="1659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535" y="1690688"/>
            <a:ext cx="2448569" cy="1684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263AA-A3DB-C7CF-FBA2-0C90089C37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BD0872BE-3A85-C496-DBB6-FBC6A82DC7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275" y="3679214"/>
            <a:ext cx="2791486" cy="1969188"/>
          </a:xfrm>
          <a:prstGeom prst="rect">
            <a:avLst/>
          </a:prstGeom>
        </p:spPr>
      </p:pic>
      <p:pic>
        <p:nvPicPr>
          <p:cNvPr id="1026" name="Picture 2" descr="IR (Infrared) Obstacle Avoidance Sensor Module">
            <a:extLst>
              <a:ext uri="{FF2B5EF4-FFF2-40B4-BE49-F238E27FC236}">
                <a16:creationId xmlns:a16="http://schemas.microsoft.com/office/drawing/2014/main" id="{2BF6D349-14EF-64B1-86EF-3FD2F0EE1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084" y="4291604"/>
            <a:ext cx="2828039" cy="1885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2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99DC-EB66-F32C-AB89-0C59F384C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SFL07: IR SENSOR WITH SERVO MOTOR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552E89-A5C4-D6A9-A01A-B56100DED3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27538" y="0"/>
            <a:ext cx="2755261" cy="742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53E24E-8F69-0D05-84B7-0ACECA00A11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2055813"/>
            <a:ext cx="5735955" cy="34772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FA2C06-836A-AF4B-1E1A-EEE32BBFEBFE}"/>
              </a:ext>
            </a:extLst>
          </p:cNvPr>
          <p:cNvSpPr txBox="1"/>
          <p:nvPr/>
        </p:nvSpPr>
        <p:spPr>
          <a:xfrm>
            <a:off x="7588577" y="2055813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Connections: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5034CA-C97A-1B64-9068-DBF5BCB84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924345"/>
              </p:ext>
            </p:extLst>
          </p:nvPr>
        </p:nvGraphicFramePr>
        <p:xfrm>
          <a:off x="7588314" y="4608513"/>
          <a:ext cx="3765486" cy="1625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743">
                  <a:extLst>
                    <a:ext uri="{9D8B030D-6E8A-4147-A177-3AD203B41FA5}">
                      <a16:colId xmlns:a16="http://schemas.microsoft.com/office/drawing/2014/main" val="2942179988"/>
                    </a:ext>
                  </a:extLst>
                </a:gridCol>
                <a:gridCol w="1882743">
                  <a:extLst>
                    <a:ext uri="{9D8B030D-6E8A-4147-A177-3AD203B41FA5}">
                      <a16:colId xmlns:a16="http://schemas.microsoft.com/office/drawing/2014/main" val="2257899518"/>
                    </a:ext>
                  </a:extLst>
                </a:gridCol>
              </a:tblGrid>
              <a:tr h="528333">
                <a:tc>
                  <a:txBody>
                    <a:bodyPr/>
                    <a:lstStyle/>
                    <a:p>
                      <a:r>
                        <a:rPr lang="en-IN" dirty="0"/>
                        <a:t>Arduino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958593"/>
                  </a:ext>
                </a:extLst>
              </a:tr>
              <a:tr h="168606">
                <a:tc>
                  <a:txBody>
                    <a:bodyPr/>
                    <a:lstStyle/>
                    <a:p>
                      <a:r>
                        <a:rPr lang="en-IN" dirty="0"/>
                        <a:t>Pin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Output pin(IR)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500935"/>
                  </a:ext>
                </a:extLst>
              </a:tr>
              <a:tr h="168606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GND(red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507923"/>
                  </a:ext>
                </a:extLst>
              </a:tr>
              <a:tr h="168606">
                <a:tc>
                  <a:txBody>
                    <a:bodyPr/>
                    <a:lstStyle/>
                    <a:p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VCC(light blue)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16760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C523D68-80B3-683A-1BC7-BF752C1A9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347112"/>
              </p:ext>
            </p:extLst>
          </p:nvPr>
        </p:nvGraphicFramePr>
        <p:xfrm>
          <a:off x="7588314" y="2664090"/>
          <a:ext cx="4185920" cy="1529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960">
                  <a:extLst>
                    <a:ext uri="{9D8B030D-6E8A-4147-A177-3AD203B41FA5}">
                      <a16:colId xmlns:a16="http://schemas.microsoft.com/office/drawing/2014/main" val="1353974878"/>
                    </a:ext>
                  </a:extLst>
                </a:gridCol>
                <a:gridCol w="2092960">
                  <a:extLst>
                    <a:ext uri="{9D8B030D-6E8A-4147-A177-3AD203B41FA5}">
                      <a16:colId xmlns:a16="http://schemas.microsoft.com/office/drawing/2014/main" val="2243892265"/>
                    </a:ext>
                  </a:extLst>
                </a:gridCol>
              </a:tblGrid>
              <a:tr h="382455">
                <a:tc>
                  <a:txBody>
                    <a:bodyPr/>
                    <a:lstStyle/>
                    <a:p>
                      <a:r>
                        <a:rPr lang="en-IN" dirty="0"/>
                        <a:t>Arduino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 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400532"/>
                  </a:ext>
                </a:extLst>
              </a:tr>
              <a:tr h="382455">
                <a:tc>
                  <a:txBody>
                    <a:bodyPr/>
                    <a:lstStyle/>
                    <a:p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VCC(red)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139906"/>
                  </a:ext>
                </a:extLst>
              </a:tr>
              <a:tr h="382455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GND(light blue)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97085"/>
                  </a:ext>
                </a:extLst>
              </a:tr>
              <a:tr h="382455">
                <a:tc>
                  <a:txBody>
                    <a:bodyPr/>
                    <a:lstStyle/>
                    <a:p>
                      <a:r>
                        <a:rPr lang="en-IN" dirty="0"/>
                        <a:t>Pin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Output(dark blue)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267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67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515F9-6D04-52C6-5CCD-918B5EEF9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3D55-A95E-9603-D4F7-8528C08DB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SFL07: IR SENSOR WITH SERVO MOTOR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348A05-4E5F-6E96-005A-8F58CFEE14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27538" y="0"/>
            <a:ext cx="2755261" cy="7426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955D90-1A82-6D98-E498-FC67993445AE}"/>
              </a:ext>
            </a:extLst>
          </p:cNvPr>
          <p:cNvSpPr/>
          <p:nvPr/>
        </p:nvSpPr>
        <p:spPr>
          <a:xfrm>
            <a:off x="5974080" y="1920240"/>
            <a:ext cx="4114800" cy="301752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b="1" u="sng" dirty="0"/>
              <a:t>Code for Lesson SFL07:</a:t>
            </a:r>
          </a:p>
          <a:p>
            <a:endParaRPr lang="en-IN" b="1" u="sng" dirty="0"/>
          </a:p>
          <a:p>
            <a:r>
              <a:rPr lang="en-IN" b="1" u="sng" dirty="0">
                <a:solidFill>
                  <a:schemeClr val="accent1"/>
                </a:solidFill>
              </a:rPr>
              <a:t>https://github.com/info-zas/zas-robotics-sensors/blob/main/01_FoundationProjects/01_Code/_07_IRTransmitterAndReceiverWithServoControl/_07_IRTransmitterAndReceiverWithServoControl.ino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FA18C6-594B-F851-957D-26005EC06883}"/>
              </a:ext>
            </a:extLst>
          </p:cNvPr>
          <p:cNvSpPr/>
          <p:nvPr/>
        </p:nvSpPr>
        <p:spPr>
          <a:xfrm>
            <a:off x="955040" y="1991360"/>
            <a:ext cx="4643120" cy="284480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Include servo library and define pins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Setup()</a:t>
            </a:r>
            <a:br>
              <a:rPr lang="en-IN" dirty="0"/>
            </a:br>
            <a:r>
              <a:rPr lang="en-IN" dirty="0"/>
              <a:t>GND to GND from modules to Arduino </a:t>
            </a:r>
            <a:br>
              <a:rPr lang="en-IN" dirty="0"/>
            </a:br>
            <a:r>
              <a:rPr lang="en-IN" dirty="0"/>
              <a:t>VCC to 5V</a:t>
            </a:r>
            <a:br>
              <a:rPr lang="en-IN" dirty="0"/>
            </a:br>
            <a:r>
              <a:rPr lang="en-IN" dirty="0"/>
              <a:t>pin 3 to servo signal</a:t>
            </a:r>
            <a:br>
              <a:rPr lang="en-IN" dirty="0"/>
            </a:br>
            <a:r>
              <a:rPr lang="en-IN" dirty="0"/>
              <a:t>pin 8 to the IR sensor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Loop()</a:t>
            </a:r>
            <a:br>
              <a:rPr lang="en-IN" dirty="0"/>
            </a:br>
            <a:r>
              <a:rPr lang="en-IN" dirty="0"/>
              <a:t>IR transmits a signal and controls the servo motor movements </a:t>
            </a:r>
          </a:p>
        </p:txBody>
      </p:sp>
    </p:spTree>
    <p:extLst>
      <p:ext uri="{BB962C8B-B14F-4D97-AF65-F5344CB8AC3E}">
        <p14:creationId xmlns:p14="http://schemas.microsoft.com/office/powerpoint/2010/main" val="326013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17987-A936-2100-7352-403D2EECD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F7BE5-38E3-DBA1-18C0-A6AD8889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SFL07: IR SENSOR WITH SERVO MOTOR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BC36C0-EF24-7E92-0882-B3EDA6D6EA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27538" y="0"/>
            <a:ext cx="2755261" cy="742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7C8521-D84D-6CF6-287F-F46F666D9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304" y="1690688"/>
            <a:ext cx="6235446" cy="430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49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4262</TotalTime>
  <Words>185</Words>
  <Application>Microsoft Office PowerPoint</Application>
  <PresentationFormat>Widescreen</PresentationFormat>
  <Paragraphs>38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SFL07: IR SENSOR WITH SERVO MOTOR</vt:lpstr>
      <vt:lpstr>SFL07: IR SENSOR WITH SERVO MOTOR</vt:lpstr>
      <vt:lpstr>SFL07: IR SENSOR WITH SERVO MOTOR</vt:lpstr>
      <vt:lpstr>SFL07: IR SENSOR WITH SERVO MOTOR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14</cp:revision>
  <dcterms:created xsi:type="dcterms:W3CDTF">2025-12-19T12:23:13Z</dcterms:created>
  <dcterms:modified xsi:type="dcterms:W3CDTF">2026-01-18T17:39:13Z</dcterms:modified>
</cp:coreProperties>
</file>